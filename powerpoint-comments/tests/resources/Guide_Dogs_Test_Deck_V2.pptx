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7D152D20.xml" ContentType="application/vnd.ms-powerpoint.comments+xml"/>
  <Override PartName="/ppt/notesSlides/notesSlide2.xml" ContentType="application/vnd.openxmlformats-officedocument.presentationml.notesSlide+xml"/>
  <Override PartName="/ppt/comments/modernComment_101_640D1D9F.xml" ContentType="application/vnd.ms-powerpoint.comments+xml"/>
  <Override PartName="/ppt/notesSlides/notesSlide3.xml" ContentType="application/vnd.openxmlformats-officedocument.presentationml.notesSlide+xml"/>
  <Override PartName="/ppt/comments/modernComment_102_62E7C7EC.xml" ContentType="application/vnd.ms-powerpoint.comments+xml"/>
  <Override PartName="/ppt/notesSlides/notesSlide4.xml" ContentType="application/vnd.openxmlformats-officedocument.presentationml.notesSlide+xml"/>
  <Override PartName="/ppt/comments/modernComment_103_2B04221E.xml" ContentType="application/vnd.ms-powerpoint.comments+xml"/>
  <Override PartName="/ppt/notesSlides/notesSlide5.xml" ContentType="application/vnd.openxmlformats-officedocument.presentationml.notesSlide+xml"/>
  <Override PartName="/ppt/comments/modernComment_104_8088468C.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6_B4511264.xml" ContentType="application/vnd.ms-powerpoint.comments+xml"/>
  <Override PartName="/ppt/notesSlides/notesSlide8.xml" ContentType="application/vnd.openxmlformats-officedocument.presentationml.notesSlide+xml"/>
  <Override PartName="/ppt/comments/modernComment_107_F32096E6.xml" ContentType="application/vnd.ms-powerpoint.comments+xml"/>
  <Override PartName="/ppt/notesSlides/notesSlide9.xml" ContentType="application/vnd.openxmlformats-officedocument.presentationml.notesSlide+xml"/>
  <Override PartName="/ppt/comments/modernComment_108_FA2C911C.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CF2814-E671-958C-F932-8C6424710F6F}" name="Brett Humphrey" initials="BH" userId="29c2205a533adc02" providerId="Windows Live"/>
  <p188:author id="{B72249CB-3892-C6F4-5165-3FF7AF885C30}" name="Brett Humphrey" initials="BH" userId="S::Brett@electro-jam.com::522a63b0-b642-4d4b-b7cc-a758571d848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17" autoAdjust="0"/>
    <p:restoredTop sz="79193" autoAdjust="0"/>
  </p:normalViewPr>
  <p:slideViewPr>
    <p:cSldViewPr snapToGrid="0">
      <p:cViewPr varScale="1">
        <p:scale>
          <a:sx n="34" d="100"/>
          <a:sy n="34" d="100"/>
        </p:scale>
        <p:origin x="51"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modernComment_100_7D152D20.xml><?xml version="1.0" encoding="utf-8"?>
<p188:cmLst xmlns:a="http://schemas.openxmlformats.org/drawingml/2006/main" xmlns:r="http://schemas.openxmlformats.org/officeDocument/2006/relationships" xmlns:p188="http://schemas.microsoft.com/office/powerpoint/2018/8/main">
  <p188:cm id="{79F52E6E-6063-44A3-B389-7CA9CD1C37E5}" authorId="{53CF2814-E671-958C-F932-8C6424710F6F}" created="2025-12-04T22:37:01.285">
    <pc:sldMkLst xmlns:pc="http://schemas.microsoft.com/office/powerpoint/2013/main/command">
      <pc:docMk/>
      <pc:sldMk cId="2098539808" sldId="256"/>
    </pc:sldMkLst>
    <p188:pos x="1270000" y="1270000"/>
    <p188:txBody>
      <a:bodyPr/>
      <a:lstStyle/>
      <a:p>
        <a:r>
          <a:rPr lang="en-US"/>
          <a:t>@John Smith please review the title - should we include the year?</a:t>
        </a:r>
      </a:p>
    </p188:txBody>
  </p188:cm>
</p188:cmLst>
</file>

<file path=ppt/comments/modernComment_101_640D1D9F.xml><?xml version="1.0" encoding="utf-8"?>
<p188:cmLst xmlns:a="http://schemas.openxmlformats.org/drawingml/2006/main" xmlns:r="http://schemas.openxmlformats.org/officeDocument/2006/relationships" xmlns:p188="http://schemas.microsoft.com/office/powerpoint/2018/8/main">
  <p188:cm id="{B72E0037-A230-4AC9-B665-C2E66CDE0F67}" authorId="{53CF2814-E671-958C-F932-8C6424710F6F}" created="2025-12-04T22:37:01.573">
    <pc:sldMkLst xmlns:pc="http://schemas.microsoft.com/office/powerpoint/2013/main/command">
      <pc:docMk/>
      <pc:sldMk cId="1678581151" sldId="257"/>
    </pc:sldMkLst>
    <p188:pos x="1905000" y="2540000"/>
    <p188:replyLst>
      <p188:reply id="{FCF535ED-317B-43A4-81B1-F73A9A86714F}" authorId="{B72249CB-3892-C6F4-5165-3FF7AF885C30}" created="2025-12-11T15:45:13.674">
        <p188:txBody>
          <a:bodyPr/>
          <a:lstStyle/>
          <a:p>
            <a:r>
              <a:rPr lang="en-US"/>
              <a:t>Stuff to reply </a:t>
            </a:r>
          </a:p>
        </p188:txBody>
      </p188:reply>
      <p188:reply id="{6A6CAB1B-EFBF-4E78-B242-81798357EDDE}" authorId="{B72249CB-3892-C6F4-5165-3FF7AF885C30}" created="2025-12-11T18:36:33.338">
        <p188:txBody>
          <a:bodyPr/>
          <a:lstStyle/>
          <a:p>
            <a:r>
              <a:rPr lang="en-US"/>
              <a:t>Want to reply more here for more testing </a:t>
            </a:r>
          </a:p>
        </p188:txBody>
      </p188:reply>
    </p188:replyLst>
    <p188:txBody>
      <a:bodyPr/>
      <a:lstStyle/>
      <a:p>
        <a:r>
          <a:rPr lang="en-US"/>
          <a:t>Great overview! Maybe add info about the handler relationship?</a:t>
        </a:r>
      </a:p>
    </p188:txBody>
  </p188:cm>
  <p188:cm id="{79C365A1-846E-41B0-AECD-B013328C5673}" authorId="{53CF2814-E671-958C-F932-8C6424710F6F}" created="2025-12-04T22:37:01.587">
    <pc:sldMkLst xmlns:pc="http://schemas.microsoft.com/office/powerpoint/2013/main/command">
      <pc:docMk/>
      <pc:sldMk cId="1678581151" sldId="257"/>
    </pc:sldMkLst>
    <p188:pos x="2540000" y="3810000"/>
    <p188:txBody>
      <a:bodyPr/>
      <a:lstStyle/>
      <a:p>
        <a:r>
          <a:rPr lang="en-US"/>
          <a:t>@Sarah Johnson I think we should mention guide dog schools here too.</a:t>
        </a:r>
      </a:p>
    </p188:txBody>
  </p188:cm>
</p188:cmLst>
</file>

<file path=ppt/comments/modernComment_102_62E7C7EC.xml><?xml version="1.0" encoding="utf-8"?>
<p188:cmLst xmlns:a="http://schemas.openxmlformats.org/drawingml/2006/main" xmlns:r="http://schemas.openxmlformats.org/officeDocument/2006/relationships" xmlns:p188="http://schemas.microsoft.com/office/powerpoint/2018/8/main">
  <p188:cm id="{0846BB2B-7799-481A-877B-453886FA1180}" authorId="{53CF2814-E671-958C-F932-8C6424710F6F}" created="2025-12-04T22:37:02.128">
    <pc:sldMkLst xmlns:pc="http://schemas.microsoft.com/office/powerpoint/2013/main/command">
      <pc:docMk/>
      <pc:sldMk cId="1659357164" sldId="258"/>
    </pc:sldMkLst>
    <p188:pos x="6985000" y="1905000"/>
    <p188:replyLst>
      <p188:reply id="{65ECFC6F-75D8-4829-9F72-5ADEFF07451D}" authorId="{B72249CB-3892-C6F4-5165-3FF7AF885C30}" created="2025-12-11T18:30:10.354">
        <p188:txBody>
          <a:bodyPr/>
          <a:lstStyle/>
          <a:p>
            <a:r>
              <a:rPr lang="en-US"/>
              <a:t>Adding a reply to test </a:t>
            </a:r>
          </a:p>
        </p188:txBody>
      </p188:reply>
    </p188:replyLst>
    <p188:txBody>
      <a:bodyPr/>
      <a:lstStyle/>
      <a:p>
        <a:r>
          <a:rPr lang="en-US"/>
          <a:t>These numbers are estimates. @Maria Garcia can you verify the UK data?</a:t>
        </a:r>
      </a:p>
    </p188:txBody>
  </p188:cm>
  <p188:cm id="{7A9231A5-BD49-407C-9B22-4718A61BEE4B}" authorId="{53CF2814-E671-958C-F932-8C6424710F6F}" status="resolved" created="2025-12-04T22:37:02.128" complete="100000">
    <pc:sldMkLst xmlns:pc="http://schemas.microsoft.com/office/powerpoint/2013/main/command">
      <pc:docMk/>
      <pc:sldMk cId="1659357164" sldId="258"/>
    </pc:sldMkLst>
    <p188:pos x="6985000" y="3175000"/>
    <p188:txBody>
      <a:bodyPr/>
      <a:lstStyle/>
      <a:p>
        <a:r>
          <a:rPr lang="en-US"/>
          <a:t>Should we add a note about data sources?</a:t>
        </a:r>
      </a:p>
    </p188:txBody>
  </p188:cm>
</p188:cmLst>
</file>

<file path=ppt/comments/modernComment_103_2B04221E.xml><?xml version="1.0" encoding="utf-8"?>
<p188:cmLst xmlns:a="http://schemas.openxmlformats.org/drawingml/2006/main" xmlns:r="http://schemas.openxmlformats.org/officeDocument/2006/relationships" xmlns:p188="http://schemas.microsoft.com/office/powerpoint/2018/8/main">
  <p188:cm id="{F41C5944-093F-4392-BE23-68DF6003CFE4}" authorId="{53CF2814-E671-958C-F932-8C6424710F6F}" created="2025-12-04T22:37:02.245">
    <pc:sldMkLst xmlns:pc="http://schemas.microsoft.com/office/powerpoint/2013/main/command">
      <pc:docMk/>
      <pc:sldMk cId="721691166" sldId="259"/>
    </pc:sldMkLst>
    <p188:pos x="6985000" y="2540000"/>
    <p188:txBody>
      <a:bodyPr/>
      <a:lstStyle/>
      <a:p>
        <a:r>
          <a:rPr lang="en-US"/>
          <a:t>@John Smith can you double-check these percentages? I got them from the 2023 IGDF report.</a:t>
        </a:r>
      </a:p>
    </p188:txBody>
  </p188:cm>
</p188:cmLst>
</file>

<file path=ppt/comments/modernComment_104_8088468C.xml><?xml version="1.0" encoding="utf-8"?>
<p188:cmLst xmlns:a="http://schemas.openxmlformats.org/drawingml/2006/main" xmlns:r="http://schemas.openxmlformats.org/officeDocument/2006/relationships" xmlns:p188="http://schemas.microsoft.com/office/powerpoint/2018/8/main">
  <p188:cm id="{DDE14D1D-1B4C-4793-8D20-46ED94E93C21}" authorId="{53CF2814-E671-958C-F932-8C6424710F6F}" created="2025-12-04T22:37:02.309">
    <pc:sldMkLst xmlns:pc="http://schemas.microsoft.com/office/powerpoint/2013/main/command">
      <pc:docMk/>
      <pc:sldMk cId="2156414604" sldId="260"/>
    </pc:sldMkLst>
    <p188:pos x="1270000" y="1905000"/>
    <p188:txBody>
      <a:bodyPr/>
      <a:lstStyle/>
      <a:p>
        <a:r>
          <a:rPr lang="en-US"/>
          <a:t>@David Chen what's the success rate for formal training?</a:t>
        </a:r>
      </a:p>
    </p188:txBody>
  </p188:cm>
</p188:cmLst>
</file>

<file path=ppt/comments/modernComment_106_B4511264.xml><?xml version="1.0" encoding="utf-8"?>
<p188:cmLst xmlns:a="http://schemas.openxmlformats.org/drawingml/2006/main" xmlns:r="http://schemas.openxmlformats.org/officeDocument/2006/relationships" xmlns:p188="http://schemas.microsoft.com/office/powerpoint/2018/8/main">
  <p188:cm id="{B0759BAC-813A-4A38-BF43-124049563ACD}" authorId="{53CF2814-E671-958C-F932-8C6424710F6F}" created="2025-12-04T22:37:02.405">
    <pc:sldMkLst xmlns:pc="http://schemas.microsoft.com/office/powerpoint/2013/main/command">
      <pc:docMk/>
      <pc:sldMk cId="3025212004" sldId="262"/>
    </pc:sldMkLst>
    <p188:pos x="1270000" y="2540000"/>
    <p188:txBody>
      <a:bodyPr/>
      <a:lstStyle/>
      <a:p>
        <a:r>
          <a:rPr lang="en-US"/>
          <a:t>This is really important information for the general public.</a:t>
        </a:r>
      </a:p>
    </p188:txBody>
  </p188:cm>
  <p188:cm id="{CB55A296-4136-4112-BD93-8A4E7028EAF5}" authorId="{53CF2814-E671-958C-F932-8C6424710F6F}" created="2025-12-04T22:37:02.416">
    <pc:sldMkLst xmlns:pc="http://schemas.microsoft.com/office/powerpoint/2013/main/command">
      <pc:docMk/>
      <pc:sldMk cId="3025212004" sldId="262"/>
    </pc:sldMkLst>
    <p188:pos x="1905000" y="3556000"/>
    <p188:txBody>
      <a:bodyPr/>
      <a:lstStyle/>
      <a:p>
        <a:r>
          <a:rPr lang="en-US"/>
          <a:t>@John Smith @Maria Garcia should we add a section about access rights too?</a:t>
        </a:r>
      </a:p>
    </p188:txBody>
  </p188:cm>
  <p188:cm id="{F8A2286F-9DF0-4C6F-8289-A04222AFCB42}" authorId="{53CF2814-E671-958C-F932-8C6424710F6F}" created="2025-12-04T22:37:02.427">
    <pc:sldMkLst xmlns:pc="http://schemas.microsoft.com/office/powerpoint/2013/main/command">
      <pc:docMk/>
      <pc:sldMk cId="3025212004" sldId="262"/>
    </pc:sldMkLst>
    <p188:pos x="2540000" y="4445000"/>
    <p188:txBody>
      <a:bodyPr/>
      <a:lstStyle/>
      <a:p>
        <a:r>
          <a:rPr lang="en-US"/>
          <a:t>Great suggestion @Sarah Johnson - maybe on a separate slide?</a:t>
        </a:r>
      </a:p>
    </p188:txBody>
  </p188:cm>
</p188:cmLst>
</file>

<file path=ppt/comments/modernComment_107_F32096E6.xml><?xml version="1.0" encoding="utf-8"?>
<p188:cmLst xmlns:a="http://schemas.openxmlformats.org/drawingml/2006/main" xmlns:r="http://schemas.openxmlformats.org/officeDocument/2006/relationships" xmlns:p188="http://schemas.microsoft.com/office/powerpoint/2018/8/main">
  <p188:cm id="{8C48AB9B-1AB0-448F-A5C6-57E9190DD953}" authorId="{53CF2814-E671-958C-F932-8C6424710F6F}" created="2025-12-04T22:37:02.480">
    <pc:sldMkLst xmlns:pc="http://schemas.microsoft.com/office/powerpoint/2013/main/command">
      <pc:docMk/>
      <pc:sldMk cId="4078999270" sldId="263"/>
    </pc:sldMkLst>
    <p188:pos x="1270000" y="1905000"/>
    <p188:txBody>
      <a:bodyPr/>
      <a:lstStyle/>
      <a:p>
        <a:r>
          <a:rPr lang="en-US"/>
          <a:t>We should add links to these organizations in the notes.</a:t>
        </a:r>
      </a:p>
    </p188:txBody>
  </p188:cm>
</p188:cmLst>
</file>

<file path=ppt/comments/modernComment_108_FA2C911C.xml><?xml version="1.0" encoding="utf-8"?>
<p188:cmLst xmlns:a="http://schemas.openxmlformats.org/drawingml/2006/main" xmlns:r="http://schemas.openxmlformats.org/officeDocument/2006/relationships" xmlns:p188="http://schemas.microsoft.com/office/powerpoint/2018/8/main">
  <p188:cm id="{24267D41-257D-4E59-B525-23C0D1DE1969}" authorId="{53CF2814-E671-958C-F932-8C6424710F6F}" created="2025-12-04T22:37:02.555">
    <pc:sldMkLst xmlns:pc="http://schemas.microsoft.com/office/powerpoint/2013/main/command">
      <pc:docMk/>
      <pc:sldMk cId="4197224732" sldId="264"/>
    </pc:sldMkLst>
    <p188:pos x="1270000" y="1270000"/>
    <p188:txBody>
      <a:bodyPr/>
      <a:lstStyle/>
      <a:p>
        <a:r>
          <a:rPr lang="en-US"/>
          <a:t>@John Smith @Maria Garcia @David Chen - Final review complete?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3F1CBD-96CF-4072-8DC3-C715CAA4EC76}" type="datetimeFigureOut">
              <a:rPr lang="en-US" smtClean="0"/>
              <a:t>1/11/2026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2E4F0C-A2D9-473C-B5DC-CA499C91B12F}" type="slidenum">
              <a:rPr lang="en-US" smtClean="0"/>
              <a:t>‹#›</a:t>
            </a:fld>
            <a:endParaRPr lang="en-US"/>
          </a:p>
        </p:txBody>
      </p:sp>
    </p:spTree>
    <p:extLst>
      <p:ext uri="{BB962C8B-B14F-4D97-AF65-F5344CB8AC3E}">
        <p14:creationId xmlns:p14="http://schemas.microsoft.com/office/powerpoint/2010/main" val="890753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topics one could cover.</a:t>
            </a:r>
          </a:p>
          <a:p>
            <a:r>
              <a:rPr lang="en-US" dirty="0"/>
              <a:t>**** independence is key for many in life ****</a:t>
            </a:r>
          </a:p>
          <a:p>
            <a:r>
              <a:rPr lang="en-US" dirty="0"/>
              <a:t>More </a:t>
            </a:r>
            <a:r>
              <a:rPr lang="en-US" dirty="0" err="1"/>
              <a:t>sutf</a:t>
            </a:r>
            <a:r>
              <a:rPr lang="en-US" dirty="0"/>
              <a:t> here that should not be read but was.</a:t>
            </a:r>
          </a:p>
        </p:txBody>
      </p:sp>
      <p:sp>
        <p:nvSpPr>
          <p:cNvPr id="4" name="Slide Number Placeholder 3"/>
          <p:cNvSpPr>
            <a:spLocks noGrp="1"/>
          </p:cNvSpPr>
          <p:nvPr>
            <p:ph type="sldNum" sz="quarter" idx="5"/>
          </p:nvPr>
        </p:nvSpPr>
        <p:spPr/>
        <p:txBody>
          <a:bodyPr/>
          <a:lstStyle/>
          <a:p>
            <a:fld id="{9D2E4F0C-A2D9-473C-B5DC-CA499C91B12F}" type="slidenum">
              <a:rPr lang="en-US" smtClean="0"/>
              <a:t>1</a:t>
            </a:fld>
            <a:endParaRPr lang="en-US"/>
          </a:p>
        </p:txBody>
      </p:sp>
    </p:spTree>
    <p:extLst>
      <p:ext uri="{BB962C8B-B14F-4D97-AF65-F5344CB8AC3E}">
        <p14:creationId xmlns:p14="http://schemas.microsoft.com/office/powerpoint/2010/main" val="969289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D2E4F0C-A2D9-473C-B5DC-CA499C91B12F}" type="slidenum">
              <a:rPr lang="en-US" smtClean="0"/>
              <a:t>2</a:t>
            </a:fld>
            <a:endParaRPr lang="en-US"/>
          </a:p>
        </p:txBody>
      </p:sp>
    </p:spTree>
    <p:extLst>
      <p:ext uri="{BB962C8B-B14F-4D97-AF65-F5344CB8AC3E}">
        <p14:creationId xmlns:p14="http://schemas.microsoft.com/office/powerpoint/2010/main" val="1613448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D2E4F0C-A2D9-473C-B5DC-CA499C91B12F}" type="slidenum">
              <a:rPr lang="en-US" smtClean="0"/>
              <a:t>3</a:t>
            </a:fld>
            <a:endParaRPr lang="en-US"/>
          </a:p>
        </p:txBody>
      </p:sp>
    </p:spTree>
    <p:extLst>
      <p:ext uri="{BB962C8B-B14F-4D97-AF65-F5344CB8AC3E}">
        <p14:creationId xmlns:p14="http://schemas.microsoft.com/office/powerpoint/2010/main" val="3401277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some </a:t>
            </a:r>
            <a:r>
              <a:rPr lang="en-US" dirty="0" err="1"/>
              <a:t>stuf</a:t>
            </a:r>
            <a:r>
              <a:rPr lang="en-US" dirty="0"/>
              <a:t> fin here </a:t>
            </a:r>
          </a:p>
          <a:p>
            <a:endParaRPr lang="en-US" dirty="0"/>
          </a:p>
          <a:p>
            <a:r>
              <a:rPr lang="en-US" dirty="0"/>
              <a:t>**** notes to me </a:t>
            </a:r>
            <a:r>
              <a:rPr lang="en-US"/>
              <a:t>when presenting </a:t>
            </a:r>
          </a:p>
          <a:p>
            <a:r>
              <a:rPr lang="en-US"/>
              <a:t>****</a:t>
            </a:r>
            <a:endParaRPr lang="en-US" dirty="0"/>
          </a:p>
          <a:p>
            <a:endParaRPr lang="en-US" dirty="0"/>
          </a:p>
        </p:txBody>
      </p:sp>
      <p:sp>
        <p:nvSpPr>
          <p:cNvPr id="4" name="Slide Number Placeholder 3"/>
          <p:cNvSpPr>
            <a:spLocks noGrp="1"/>
          </p:cNvSpPr>
          <p:nvPr>
            <p:ph type="sldNum" sz="quarter" idx="5"/>
          </p:nvPr>
        </p:nvSpPr>
        <p:spPr/>
        <p:txBody>
          <a:bodyPr/>
          <a:lstStyle/>
          <a:p>
            <a:fld id="{9D2E4F0C-A2D9-473C-B5DC-CA499C91B12F}" type="slidenum">
              <a:rPr lang="en-US" smtClean="0"/>
              <a:t>4</a:t>
            </a:fld>
            <a:endParaRPr lang="en-US"/>
          </a:p>
        </p:txBody>
      </p:sp>
    </p:spTree>
    <p:extLst>
      <p:ext uri="{BB962C8B-B14F-4D97-AF65-F5344CB8AC3E}">
        <p14:creationId xmlns:p14="http://schemas.microsoft.com/office/powerpoint/2010/main" val="1090412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training is for both the dogs and the humans ****</a:t>
            </a:r>
          </a:p>
        </p:txBody>
      </p:sp>
      <p:sp>
        <p:nvSpPr>
          <p:cNvPr id="4" name="Slide Number Placeholder 3"/>
          <p:cNvSpPr>
            <a:spLocks noGrp="1"/>
          </p:cNvSpPr>
          <p:nvPr>
            <p:ph type="sldNum" sz="quarter" idx="5"/>
          </p:nvPr>
        </p:nvSpPr>
        <p:spPr/>
        <p:txBody>
          <a:bodyPr/>
          <a:lstStyle/>
          <a:p>
            <a:fld id="{9D2E4F0C-A2D9-473C-B5DC-CA499C91B12F}" type="slidenum">
              <a:rPr lang="en-US" smtClean="0"/>
              <a:t>5</a:t>
            </a:fld>
            <a:endParaRPr lang="en-US"/>
          </a:p>
        </p:txBody>
      </p:sp>
    </p:spTree>
    <p:extLst>
      <p:ext uri="{BB962C8B-B14F-4D97-AF65-F5344CB8AC3E}">
        <p14:creationId xmlns:p14="http://schemas.microsoft.com/office/powerpoint/2010/main" val="419889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2E4F0C-A2D9-473C-B5DC-CA499C91B12F}" type="slidenum">
              <a:rPr lang="en-US" smtClean="0"/>
              <a:t>6</a:t>
            </a:fld>
            <a:endParaRPr lang="en-US"/>
          </a:p>
        </p:txBody>
      </p:sp>
    </p:spTree>
    <p:extLst>
      <p:ext uri="{BB962C8B-B14F-4D97-AF65-F5344CB8AC3E}">
        <p14:creationId xmlns:p14="http://schemas.microsoft.com/office/powerpoint/2010/main" val="2581266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D2E4F0C-A2D9-473C-B5DC-CA499C91B12F}" type="slidenum">
              <a:rPr lang="en-US" smtClean="0"/>
              <a:t>7</a:t>
            </a:fld>
            <a:endParaRPr lang="en-US"/>
          </a:p>
        </p:txBody>
      </p:sp>
    </p:spTree>
    <p:extLst>
      <p:ext uri="{BB962C8B-B14F-4D97-AF65-F5344CB8AC3E}">
        <p14:creationId xmlns:p14="http://schemas.microsoft.com/office/powerpoint/2010/main" val="1376278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notes that are nice, but not key to a quick bit of info during the presentations </a:t>
            </a:r>
          </a:p>
          <a:p>
            <a:endParaRPr lang="en-US" dirty="0"/>
          </a:p>
          <a:p>
            <a:r>
              <a:rPr lang="en-US" dirty="0"/>
              <a:t>**** this is the note while doing the presentation ****</a:t>
            </a:r>
          </a:p>
        </p:txBody>
      </p:sp>
      <p:sp>
        <p:nvSpPr>
          <p:cNvPr id="4" name="Slide Number Placeholder 3"/>
          <p:cNvSpPr>
            <a:spLocks noGrp="1"/>
          </p:cNvSpPr>
          <p:nvPr>
            <p:ph type="sldNum" sz="quarter" idx="5"/>
          </p:nvPr>
        </p:nvSpPr>
        <p:spPr/>
        <p:txBody>
          <a:bodyPr/>
          <a:lstStyle/>
          <a:p>
            <a:fld id="{9D2E4F0C-A2D9-473C-B5DC-CA499C91B12F}" type="slidenum">
              <a:rPr lang="en-US" smtClean="0"/>
              <a:t>8</a:t>
            </a:fld>
            <a:endParaRPr lang="en-US"/>
          </a:p>
        </p:txBody>
      </p:sp>
    </p:spTree>
    <p:extLst>
      <p:ext uri="{BB962C8B-B14F-4D97-AF65-F5344CB8AC3E}">
        <p14:creationId xmlns:p14="http://schemas.microsoft.com/office/powerpoint/2010/main" val="1870533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stuff to read out ****</a:t>
            </a:r>
          </a:p>
          <a:p>
            <a:endParaRPr lang="en-US" dirty="0"/>
          </a:p>
        </p:txBody>
      </p:sp>
      <p:sp>
        <p:nvSpPr>
          <p:cNvPr id="4" name="Slide Number Placeholder 3"/>
          <p:cNvSpPr>
            <a:spLocks noGrp="1"/>
          </p:cNvSpPr>
          <p:nvPr>
            <p:ph type="sldNum" sz="quarter" idx="5"/>
          </p:nvPr>
        </p:nvSpPr>
        <p:spPr/>
        <p:txBody>
          <a:bodyPr/>
          <a:lstStyle/>
          <a:p>
            <a:fld id="{9D2E4F0C-A2D9-473C-B5DC-CA499C91B12F}" type="slidenum">
              <a:rPr lang="en-US" smtClean="0"/>
              <a:t>9</a:t>
            </a:fld>
            <a:endParaRPr lang="en-US"/>
          </a:p>
        </p:txBody>
      </p:sp>
    </p:spTree>
    <p:extLst>
      <p:ext uri="{BB962C8B-B14F-4D97-AF65-F5344CB8AC3E}">
        <p14:creationId xmlns:p14="http://schemas.microsoft.com/office/powerpoint/2010/main" val="1634984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E0589-71B5-247B-C764-2BBB97220E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A6B601-5E50-C4AB-1D6D-9123230A0D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50BDDE-FB6C-0DF5-6181-FD372036680C}"/>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5" name="Footer Placeholder 4">
            <a:extLst>
              <a:ext uri="{FF2B5EF4-FFF2-40B4-BE49-F238E27FC236}">
                <a16:creationId xmlns:a16="http://schemas.microsoft.com/office/drawing/2014/main" id="{78C61686-C25C-3C5C-F0D7-96AE5CF6C1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B8A22-1CD4-D262-048A-49921C636A2B}"/>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96748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4827-EE09-8CCE-DEF7-AFBE9D18C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66E8F1-1C24-C969-947B-04010804F5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255047-BF0C-EF92-E8F1-B3561BE14CD3}"/>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5" name="Footer Placeholder 4">
            <a:extLst>
              <a:ext uri="{FF2B5EF4-FFF2-40B4-BE49-F238E27FC236}">
                <a16:creationId xmlns:a16="http://schemas.microsoft.com/office/drawing/2014/main" id="{04F9D040-89D6-850B-6643-C5A535E6C3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F3A2BB-EE7C-DAFE-6CD2-BBE481C37D39}"/>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3464455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0B38-0328-8C3B-793D-CB6824DB24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BCA3C4-C5C9-5024-3F43-6FC64820CF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60E929-0982-5BDD-8CED-3A4614CEDBF5}"/>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5" name="Footer Placeholder 4">
            <a:extLst>
              <a:ext uri="{FF2B5EF4-FFF2-40B4-BE49-F238E27FC236}">
                <a16:creationId xmlns:a16="http://schemas.microsoft.com/office/drawing/2014/main" id="{75481376-F4B3-C058-BA4E-E0C01083CD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90616-9343-150B-54DF-4DFD1761E335}"/>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901963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31EC-DAF2-81FB-947E-2E7A6D6DF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109778-9910-8759-C949-B9D8ED5EB2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8AC5A7-7025-6F6E-D8C7-E5C33B578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B1AD74-21EA-648B-D9B2-2EB5A041CF5C}"/>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6" name="Footer Placeholder 5">
            <a:extLst>
              <a:ext uri="{FF2B5EF4-FFF2-40B4-BE49-F238E27FC236}">
                <a16:creationId xmlns:a16="http://schemas.microsoft.com/office/drawing/2014/main" id="{B8E2CC97-E0C5-6A7B-1655-55C85B183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CBE283-1CD2-ADB3-B3D4-4461F3828D23}"/>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408415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F0A9F-40D0-3125-C3C0-88D366BC9D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93DF14-C56A-3BAE-5677-4E16D1C233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4C8EAD-FC7F-635B-2899-61FE29336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EF68C0-2F8E-9B80-1E1D-F5112569A6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CDF8A6-55F5-596E-3D42-F3CACD4E39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906D48-8037-76BE-444E-05DA50C1416D}"/>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8" name="Footer Placeholder 7">
            <a:extLst>
              <a:ext uri="{FF2B5EF4-FFF2-40B4-BE49-F238E27FC236}">
                <a16:creationId xmlns:a16="http://schemas.microsoft.com/office/drawing/2014/main" id="{542DF4E5-3D35-68F0-D730-C6084C9134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37B596-C0D7-73AC-3BC5-5DD86452FAA2}"/>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657548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E8E62-9B49-AC55-E5C7-5324070FB8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DD908B-5629-A1CE-2DCF-1C86BA6F197A}"/>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4" name="Footer Placeholder 3">
            <a:extLst>
              <a:ext uri="{FF2B5EF4-FFF2-40B4-BE49-F238E27FC236}">
                <a16:creationId xmlns:a16="http://schemas.microsoft.com/office/drawing/2014/main" id="{1CE2B8DC-3CA7-519F-0545-E265A0CE4F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DF915C-12E7-41D8-3DAB-E1C9428657D2}"/>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3162877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3A0AF3-C91D-6A62-A38C-D310ECE8B81F}"/>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3" name="Footer Placeholder 2">
            <a:extLst>
              <a:ext uri="{FF2B5EF4-FFF2-40B4-BE49-F238E27FC236}">
                <a16:creationId xmlns:a16="http://schemas.microsoft.com/office/drawing/2014/main" id="{F3B9D81A-2A18-9577-1C09-008F77D979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5AF937-4C28-9D10-29D6-CA9763A86559}"/>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438956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5BE0C-7599-1637-F2FD-783C2AADBD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0CD2B0-2F0F-CB8D-FE4C-499C8ED38B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0FC29D-857B-4651-FD01-A1AF9B6FE3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24E67B-6754-ACEC-2A6A-231A4AF1E3BA}"/>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6" name="Footer Placeholder 5">
            <a:extLst>
              <a:ext uri="{FF2B5EF4-FFF2-40B4-BE49-F238E27FC236}">
                <a16:creationId xmlns:a16="http://schemas.microsoft.com/office/drawing/2014/main" id="{BD20661E-6B0E-9A0B-447C-F598D89D3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5735F2-4D94-EDB2-27BE-5DE1669D8723}"/>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320962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A0E14-4B93-239F-1F2B-ADDD95591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A92386-0CF9-3FBD-8480-7D7D342C0D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EB9A71-599D-4227-8615-D5283A139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9EAE73-AC08-C7B1-867D-B77E8EB3E888}"/>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6" name="Footer Placeholder 5">
            <a:extLst>
              <a:ext uri="{FF2B5EF4-FFF2-40B4-BE49-F238E27FC236}">
                <a16:creationId xmlns:a16="http://schemas.microsoft.com/office/drawing/2014/main" id="{58976459-3A57-F64F-F259-F91CADD731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2548FA-B0EA-EB33-F2FE-EEE6BE64E0B2}"/>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165543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FBB10-E6D6-5FFF-4C8E-F39BB6C314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EF5D01-3823-6B19-B564-79E584DAB6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ACF91C-28EA-D83F-2301-B29297088650}"/>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5" name="Footer Placeholder 4">
            <a:extLst>
              <a:ext uri="{FF2B5EF4-FFF2-40B4-BE49-F238E27FC236}">
                <a16:creationId xmlns:a16="http://schemas.microsoft.com/office/drawing/2014/main" id="{87023971-6F13-C78D-A526-A3ADBC5FD7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F2A6D-1467-E160-8129-DC332CD383DE}"/>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2826895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C2C5F4-9338-9046-4544-FC73386CC2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2EF866-192E-8034-B109-72807ED79E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D5EEB-8629-A2CE-427D-3ED7218B828C}"/>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5" name="Footer Placeholder 4">
            <a:extLst>
              <a:ext uri="{FF2B5EF4-FFF2-40B4-BE49-F238E27FC236}">
                <a16:creationId xmlns:a16="http://schemas.microsoft.com/office/drawing/2014/main" id="{3EA0EF10-0B8B-F9C4-5FB8-23C2FF8382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9B384-FFC3-2F62-84AB-85E52C87A1E3}"/>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1834789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C7876-0B08-0128-212F-B72175728B6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7C2AA4FB-4C25-315C-6198-C8A10DA379E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471AC-1D08-E3FE-3D22-C0278921F8A0}"/>
              </a:ext>
            </a:extLst>
          </p:cNvPr>
          <p:cNvSpPr>
            <a:spLocks noGrp="1"/>
          </p:cNvSpPr>
          <p:nvPr>
            <p:ph type="dt" sz="half" idx="10"/>
          </p:nvPr>
        </p:nvSpPr>
        <p:spPr/>
        <p:txBody>
          <a:bodyPr/>
          <a:lstStyle/>
          <a:p>
            <a:fld id="{09EEBB50-B7EB-44BE-9779-AC849BD321CB}" type="datetimeFigureOut">
              <a:rPr lang="en-US" smtClean="0"/>
              <a:t>1/11/2026</a:t>
            </a:fld>
            <a:endParaRPr lang="en-US"/>
          </a:p>
        </p:txBody>
      </p:sp>
      <p:sp>
        <p:nvSpPr>
          <p:cNvPr id="5" name="Footer Placeholder 4">
            <a:extLst>
              <a:ext uri="{FF2B5EF4-FFF2-40B4-BE49-F238E27FC236}">
                <a16:creationId xmlns:a16="http://schemas.microsoft.com/office/drawing/2014/main" id="{91880C76-4AF7-9279-8769-A79154434C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49693A-881D-7ED1-DE37-3EC6DA237D5A}"/>
              </a:ext>
            </a:extLst>
          </p:cNvPr>
          <p:cNvSpPr>
            <a:spLocks noGrp="1"/>
          </p:cNvSpPr>
          <p:nvPr>
            <p:ph type="sldNum" sz="quarter" idx="12"/>
          </p:nvPr>
        </p:nvSpPr>
        <p:spPr/>
        <p:txBody>
          <a:bodyPr/>
          <a:lstStyle/>
          <a:p>
            <a:fld id="{5C0224B2-3C06-4CEA-BB3C-CE7092DE16F6}" type="slidenum">
              <a:rPr lang="en-US" smtClean="0"/>
              <a:t>‹#›</a:t>
            </a:fld>
            <a:endParaRPr lang="en-US"/>
          </a:p>
        </p:txBody>
      </p:sp>
    </p:spTree>
    <p:extLst>
      <p:ext uri="{BB962C8B-B14F-4D97-AF65-F5344CB8AC3E}">
        <p14:creationId xmlns:p14="http://schemas.microsoft.com/office/powerpoint/2010/main" val="3814550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67C769-7EF2-4D97-98A1-C9093652C0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4519D3-11C5-7CE1-B0A4-9AEAA0D6B3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8E617-0E26-A50B-D2F8-218A0CC80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EEBB50-B7EB-44BE-9779-AC849BD321CB}" type="datetimeFigureOut">
              <a:rPr lang="en-US" smtClean="0"/>
              <a:t>1/11/2026</a:t>
            </a:fld>
            <a:endParaRPr lang="en-US"/>
          </a:p>
        </p:txBody>
      </p:sp>
      <p:sp>
        <p:nvSpPr>
          <p:cNvPr id="5" name="Footer Placeholder 4">
            <a:extLst>
              <a:ext uri="{FF2B5EF4-FFF2-40B4-BE49-F238E27FC236}">
                <a16:creationId xmlns:a16="http://schemas.microsoft.com/office/drawing/2014/main" id="{1DE2F262-616A-398F-8CB8-5BB1E86691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BC809B-ABFF-FD7F-17B9-1EB8CEE824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0224B2-3C06-4CEA-BB3C-CE7092DE16F6}" type="slidenum">
              <a:rPr lang="en-US" smtClean="0"/>
              <a:t>‹#›</a:t>
            </a:fld>
            <a:endParaRPr lang="en-US"/>
          </a:p>
        </p:txBody>
      </p:sp>
    </p:spTree>
    <p:extLst>
      <p:ext uri="{BB962C8B-B14F-4D97-AF65-F5344CB8AC3E}">
        <p14:creationId xmlns:p14="http://schemas.microsoft.com/office/powerpoint/2010/main" val="1599295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7D152D2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640D1D9F.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62E7C7EC.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2B04221E.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8088468C.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B4511264.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F32096E6.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FA2C911C.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4BF19-A406-9A4D-50D0-E5F867716DAA}"/>
              </a:ext>
            </a:extLst>
          </p:cNvPr>
          <p:cNvSpPr>
            <a:spLocks noGrp="1"/>
          </p:cNvSpPr>
          <p:nvPr>
            <p:ph type="ctrTitle"/>
          </p:nvPr>
        </p:nvSpPr>
        <p:spPr/>
        <p:txBody>
          <a:bodyPr/>
          <a:lstStyle/>
          <a:p>
            <a:r>
              <a:rPr lang="en-US" dirty="0"/>
              <a:t>Guide Dogs: Partners in Independence</a:t>
            </a:r>
          </a:p>
        </p:txBody>
      </p:sp>
      <p:sp>
        <p:nvSpPr>
          <p:cNvPr id="3" name="Subtitle 2">
            <a:extLst>
              <a:ext uri="{FF2B5EF4-FFF2-40B4-BE49-F238E27FC236}">
                <a16:creationId xmlns:a16="http://schemas.microsoft.com/office/drawing/2014/main" id="{C4909BA4-5BA2-A7BF-ED95-26675894EBF3}"/>
              </a:ext>
            </a:extLst>
          </p:cNvPr>
          <p:cNvSpPr>
            <a:spLocks noGrp="1"/>
          </p:cNvSpPr>
          <p:nvPr>
            <p:ph type="subTitle" idx="1"/>
          </p:nvPr>
        </p:nvSpPr>
        <p:spPr/>
        <p:txBody>
          <a:bodyPr/>
          <a:lstStyle/>
          <a:p>
            <a:r>
              <a:rPr lang="en-US" dirty="0"/>
              <a:t>A Comprehensive Overview
Test Presentation for NVDA Plugin</a:t>
            </a:r>
          </a:p>
        </p:txBody>
      </p:sp>
    </p:spTree>
    <p:extLst>
      <p:ext uri="{BB962C8B-B14F-4D97-AF65-F5344CB8AC3E}">
        <p14:creationId xmlns:p14="http://schemas.microsoft.com/office/powerpoint/2010/main" val="2098539808"/>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5969-3297-173C-4B7E-870569A9E304}"/>
              </a:ext>
            </a:extLst>
          </p:cNvPr>
          <p:cNvSpPr>
            <a:spLocks noGrp="1"/>
          </p:cNvSpPr>
          <p:nvPr>
            <p:ph type="title"/>
          </p:nvPr>
        </p:nvSpPr>
        <p:spPr/>
        <p:txBody>
          <a:bodyPr/>
          <a:lstStyle/>
          <a:p>
            <a:r>
              <a:rPr lang="en-US"/>
              <a:t>What Are Guide Dogs?</a:t>
            </a:r>
          </a:p>
        </p:txBody>
      </p:sp>
      <p:sp>
        <p:nvSpPr>
          <p:cNvPr id="3" name="Text Placeholder 2">
            <a:extLst>
              <a:ext uri="{FF2B5EF4-FFF2-40B4-BE49-F238E27FC236}">
                <a16:creationId xmlns:a16="http://schemas.microsoft.com/office/drawing/2014/main" id="{4249A8FD-3A5F-A295-F13A-58573D6CCEDA}"/>
              </a:ext>
            </a:extLst>
          </p:cNvPr>
          <p:cNvSpPr>
            <a:spLocks noGrp="1"/>
          </p:cNvSpPr>
          <p:nvPr>
            <p:ph type="body" idx="1"/>
          </p:nvPr>
        </p:nvSpPr>
        <p:spPr/>
        <p:txBody>
          <a:bodyPr/>
          <a:lstStyle/>
          <a:p>
            <a:r>
              <a:rPr lang="en-US"/>
              <a:t>Guide dogs are specially trained assistance animals
They help people who are blind or visually impaired navigate safely
Training takes approximately 2 years from birth to placement
The most common breeds are Labrador Retrievers, Golden Retrievers, and German Shepherds
Guide dogs are protected under the Americans with Disabilities Act (ADA)</a:t>
            </a:r>
          </a:p>
        </p:txBody>
      </p:sp>
    </p:spTree>
    <p:extLst>
      <p:ext uri="{BB962C8B-B14F-4D97-AF65-F5344CB8AC3E}">
        <p14:creationId xmlns:p14="http://schemas.microsoft.com/office/powerpoint/2010/main" val="167858115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712F7-3C5E-43EA-DA4D-4D491B0DEDCB}"/>
              </a:ext>
            </a:extLst>
          </p:cNvPr>
          <p:cNvSpPr>
            <a:spLocks noGrp="1"/>
          </p:cNvSpPr>
          <p:nvPr>
            <p:ph type="title"/>
          </p:nvPr>
        </p:nvSpPr>
        <p:spPr/>
        <p:txBody>
          <a:bodyPr/>
          <a:lstStyle/>
          <a:p>
            <a:r>
              <a:rPr lang="en-US"/>
              <a:t>Guide Dog Usage by Country (2024)</a:t>
            </a:r>
          </a:p>
        </p:txBody>
      </p:sp>
      <p:graphicFrame>
        <p:nvGraphicFramePr>
          <p:cNvPr id="3" name="Table 2">
            <a:extLst>
              <a:ext uri="{FF2B5EF4-FFF2-40B4-BE49-F238E27FC236}">
                <a16:creationId xmlns:a16="http://schemas.microsoft.com/office/drawing/2014/main" id="{80151397-7898-A869-D5FC-FB5A3137ED79}"/>
              </a:ext>
            </a:extLst>
          </p:cNvPr>
          <p:cNvGraphicFramePr>
            <a:graphicFrameLocks noGrp="1"/>
          </p:cNvGraphicFramePr>
          <p:nvPr>
            <p:extLst>
              <p:ext uri="{D42A27DB-BD31-4B8C-83A1-F6EECF244321}">
                <p14:modId xmlns:p14="http://schemas.microsoft.com/office/powerpoint/2010/main" val="16155323"/>
              </p:ext>
            </p:extLst>
          </p:nvPr>
        </p:nvGraphicFramePr>
        <p:xfrm>
          <a:off x="635000" y="1524000"/>
          <a:ext cx="7874001" cy="4629576"/>
        </p:xfrm>
        <a:graphic>
          <a:graphicData uri="http://schemas.openxmlformats.org/drawingml/2006/table">
            <a:tbl>
              <a:tblPr firstRow="1" bandRow="1">
                <a:tableStyleId>{5C22544A-7EE6-4342-B048-85BDC9FD1C3A}</a:tableStyleId>
              </a:tblPr>
              <a:tblGrid>
                <a:gridCol w="2624667">
                  <a:extLst>
                    <a:ext uri="{9D8B030D-6E8A-4147-A177-3AD203B41FA5}">
                      <a16:colId xmlns:a16="http://schemas.microsoft.com/office/drawing/2014/main" val="1314058869"/>
                    </a:ext>
                  </a:extLst>
                </a:gridCol>
                <a:gridCol w="2624667">
                  <a:extLst>
                    <a:ext uri="{9D8B030D-6E8A-4147-A177-3AD203B41FA5}">
                      <a16:colId xmlns:a16="http://schemas.microsoft.com/office/drawing/2014/main" val="4210241111"/>
                    </a:ext>
                  </a:extLst>
                </a:gridCol>
                <a:gridCol w="2624667">
                  <a:extLst>
                    <a:ext uri="{9D8B030D-6E8A-4147-A177-3AD203B41FA5}">
                      <a16:colId xmlns:a16="http://schemas.microsoft.com/office/drawing/2014/main" val="4052513182"/>
                    </a:ext>
                  </a:extLst>
                </a:gridCol>
              </a:tblGrid>
              <a:tr h="451556">
                <a:tc>
                  <a:txBody>
                    <a:bodyPr/>
                    <a:lstStyle/>
                    <a:p>
                      <a:r>
                        <a:rPr lang="en-US"/>
                        <a:t>Country</a:t>
                      </a:r>
                    </a:p>
                  </a:txBody>
                  <a:tcPr/>
                </a:tc>
                <a:tc>
                  <a:txBody>
                    <a:bodyPr/>
                    <a:lstStyle/>
                    <a:p>
                      <a:r>
                        <a:rPr lang="en-US"/>
                        <a:t>Active Teams</a:t>
                      </a:r>
                    </a:p>
                  </a:txBody>
                  <a:tcPr/>
                </a:tc>
                <a:tc>
                  <a:txBody>
                    <a:bodyPr/>
                    <a:lstStyle/>
                    <a:p>
                      <a:r>
                        <a:rPr lang="en-US"/>
                        <a:t>Primary Schools</a:t>
                      </a:r>
                    </a:p>
                  </a:txBody>
                  <a:tcPr/>
                </a:tc>
                <a:extLst>
                  <a:ext uri="{0D108BD9-81ED-4DB2-BD59-A6C34878D82A}">
                    <a16:rowId xmlns:a16="http://schemas.microsoft.com/office/drawing/2014/main" val="1631756709"/>
                  </a:ext>
                </a:extLst>
              </a:tr>
              <a:tr h="451556">
                <a:tc>
                  <a:txBody>
                    <a:bodyPr/>
                    <a:lstStyle/>
                    <a:p>
                      <a:r>
                        <a:rPr lang="en-US"/>
                        <a:t>United States</a:t>
                      </a:r>
                    </a:p>
                  </a:txBody>
                  <a:tcPr/>
                </a:tc>
                <a:tc>
                  <a:txBody>
                    <a:bodyPr/>
                    <a:lstStyle/>
                    <a:p>
                      <a:r>
                        <a:rPr lang="en-US"/>
                        <a:t>10,000</a:t>
                      </a:r>
                    </a:p>
                  </a:txBody>
                  <a:tcPr/>
                </a:tc>
                <a:tc>
                  <a:txBody>
                    <a:bodyPr/>
                    <a:lstStyle/>
                    <a:p>
                      <a:r>
                        <a:rPr lang="en-US"/>
                        <a:t>Guide Dogs for the Blind, The Seeing Eye</a:t>
                      </a:r>
                    </a:p>
                  </a:txBody>
                  <a:tcPr/>
                </a:tc>
                <a:extLst>
                  <a:ext uri="{0D108BD9-81ED-4DB2-BD59-A6C34878D82A}">
                    <a16:rowId xmlns:a16="http://schemas.microsoft.com/office/drawing/2014/main" val="592606612"/>
                  </a:ext>
                </a:extLst>
              </a:tr>
              <a:tr h="451556">
                <a:tc>
                  <a:txBody>
                    <a:bodyPr/>
                    <a:lstStyle/>
                    <a:p>
                      <a:r>
                        <a:rPr lang="en-US"/>
                        <a:t>United Kingdom</a:t>
                      </a:r>
                    </a:p>
                  </a:txBody>
                  <a:tcPr/>
                </a:tc>
                <a:tc>
                  <a:txBody>
                    <a:bodyPr/>
                    <a:lstStyle/>
                    <a:p>
                      <a:r>
                        <a:rPr lang="en-US"/>
                        <a:t>5,000</a:t>
                      </a:r>
                    </a:p>
                  </a:txBody>
                  <a:tcPr/>
                </a:tc>
                <a:tc>
                  <a:txBody>
                    <a:bodyPr/>
                    <a:lstStyle/>
                    <a:p>
                      <a:r>
                        <a:rPr lang="en-US"/>
                        <a:t>Guide Dogs UK</a:t>
                      </a:r>
                    </a:p>
                  </a:txBody>
                  <a:tcPr/>
                </a:tc>
                <a:extLst>
                  <a:ext uri="{0D108BD9-81ED-4DB2-BD59-A6C34878D82A}">
                    <a16:rowId xmlns:a16="http://schemas.microsoft.com/office/drawing/2014/main" val="1087909178"/>
                  </a:ext>
                </a:extLst>
              </a:tr>
              <a:tr h="451556">
                <a:tc>
                  <a:txBody>
                    <a:bodyPr/>
                    <a:lstStyle/>
                    <a:p>
                      <a:r>
                        <a:rPr lang="en-US"/>
                        <a:t>Germany</a:t>
                      </a:r>
                    </a:p>
                  </a:txBody>
                  <a:tcPr/>
                </a:tc>
                <a:tc>
                  <a:txBody>
                    <a:bodyPr/>
                    <a:lstStyle/>
                    <a:p>
                      <a:r>
                        <a:rPr lang="en-US"/>
                        <a:t>3,500</a:t>
                      </a:r>
                    </a:p>
                  </a:txBody>
                  <a:tcPr/>
                </a:tc>
                <a:tc>
                  <a:txBody>
                    <a:bodyPr/>
                    <a:lstStyle/>
                    <a:p>
                      <a:r>
                        <a:rPr lang="en-US"/>
                        <a:t>German Guide Dog Schools</a:t>
                      </a:r>
                    </a:p>
                  </a:txBody>
                  <a:tcPr/>
                </a:tc>
                <a:extLst>
                  <a:ext uri="{0D108BD9-81ED-4DB2-BD59-A6C34878D82A}">
                    <a16:rowId xmlns:a16="http://schemas.microsoft.com/office/drawing/2014/main" val="2337356459"/>
                  </a:ext>
                </a:extLst>
              </a:tr>
              <a:tr h="451556">
                <a:tc>
                  <a:txBody>
                    <a:bodyPr/>
                    <a:lstStyle/>
                    <a:p>
                      <a:r>
                        <a:rPr lang="en-US"/>
                        <a:t>Australia</a:t>
                      </a:r>
                    </a:p>
                  </a:txBody>
                  <a:tcPr/>
                </a:tc>
                <a:tc>
                  <a:txBody>
                    <a:bodyPr/>
                    <a:lstStyle/>
                    <a:p>
                      <a:r>
                        <a:rPr lang="en-US"/>
                        <a:t>2,800</a:t>
                      </a:r>
                    </a:p>
                  </a:txBody>
                  <a:tcPr/>
                </a:tc>
                <a:tc>
                  <a:txBody>
                    <a:bodyPr/>
                    <a:lstStyle/>
                    <a:p>
                      <a:r>
                        <a:rPr lang="en-US"/>
                        <a:t>Guide Dogs Australia</a:t>
                      </a:r>
                    </a:p>
                  </a:txBody>
                  <a:tcPr/>
                </a:tc>
                <a:extLst>
                  <a:ext uri="{0D108BD9-81ED-4DB2-BD59-A6C34878D82A}">
                    <a16:rowId xmlns:a16="http://schemas.microsoft.com/office/drawing/2014/main" val="997195213"/>
                  </a:ext>
                </a:extLst>
              </a:tr>
              <a:tr h="451556">
                <a:tc>
                  <a:txBody>
                    <a:bodyPr/>
                    <a:lstStyle/>
                    <a:p>
                      <a:r>
                        <a:rPr lang="en-US"/>
                        <a:t>Canada</a:t>
                      </a:r>
                    </a:p>
                  </a:txBody>
                  <a:tcPr/>
                </a:tc>
                <a:tc>
                  <a:txBody>
                    <a:bodyPr/>
                    <a:lstStyle/>
                    <a:p>
                      <a:r>
                        <a:rPr lang="en-US"/>
                        <a:t>2,500</a:t>
                      </a:r>
                    </a:p>
                  </a:txBody>
                  <a:tcPr/>
                </a:tc>
                <a:tc>
                  <a:txBody>
                    <a:bodyPr/>
                    <a:lstStyle/>
                    <a:p>
                      <a:r>
                        <a:rPr lang="en-US"/>
                        <a:t>CNIB Guide Dogs</a:t>
                      </a:r>
                    </a:p>
                  </a:txBody>
                  <a:tcPr/>
                </a:tc>
                <a:extLst>
                  <a:ext uri="{0D108BD9-81ED-4DB2-BD59-A6C34878D82A}">
                    <a16:rowId xmlns:a16="http://schemas.microsoft.com/office/drawing/2014/main" val="3784113410"/>
                  </a:ext>
                </a:extLst>
              </a:tr>
              <a:tr h="451556">
                <a:tc>
                  <a:txBody>
                    <a:bodyPr/>
                    <a:lstStyle/>
                    <a:p>
                      <a:r>
                        <a:rPr lang="en-US"/>
                        <a:t>France</a:t>
                      </a:r>
                    </a:p>
                  </a:txBody>
                  <a:tcPr/>
                </a:tc>
                <a:tc>
                  <a:txBody>
                    <a:bodyPr/>
                    <a:lstStyle/>
                    <a:p>
                      <a:r>
                        <a:rPr lang="en-US"/>
                        <a:t>2,200</a:t>
                      </a:r>
                    </a:p>
                  </a:txBody>
                  <a:tcPr/>
                </a:tc>
                <a:tc>
                  <a:txBody>
                    <a:bodyPr/>
                    <a:lstStyle/>
                    <a:p>
                      <a:r>
                        <a:rPr lang="en-US"/>
                        <a:t>Chiens Guides</a:t>
                      </a:r>
                    </a:p>
                  </a:txBody>
                  <a:tcPr/>
                </a:tc>
                <a:extLst>
                  <a:ext uri="{0D108BD9-81ED-4DB2-BD59-A6C34878D82A}">
                    <a16:rowId xmlns:a16="http://schemas.microsoft.com/office/drawing/2014/main" val="801779541"/>
                  </a:ext>
                </a:extLst>
              </a:tr>
              <a:tr h="451556">
                <a:tc>
                  <a:txBody>
                    <a:bodyPr/>
                    <a:lstStyle/>
                    <a:p>
                      <a:r>
                        <a:rPr lang="en-US"/>
                        <a:t>Japan</a:t>
                      </a:r>
                    </a:p>
                  </a:txBody>
                  <a:tcPr/>
                </a:tc>
                <a:tc>
                  <a:txBody>
                    <a:bodyPr/>
                    <a:lstStyle/>
                    <a:p>
                      <a:r>
                        <a:rPr lang="en-US"/>
                        <a:t>1,800</a:t>
                      </a:r>
                    </a:p>
                  </a:txBody>
                  <a:tcPr/>
                </a:tc>
                <a:tc>
                  <a:txBody>
                    <a:bodyPr/>
                    <a:lstStyle/>
                    <a:p>
                      <a:r>
                        <a:rPr lang="en-US"/>
                        <a:t>Japan Guide Dog Association</a:t>
                      </a:r>
                    </a:p>
                  </a:txBody>
                  <a:tcPr/>
                </a:tc>
                <a:extLst>
                  <a:ext uri="{0D108BD9-81ED-4DB2-BD59-A6C34878D82A}">
                    <a16:rowId xmlns:a16="http://schemas.microsoft.com/office/drawing/2014/main" val="1273302006"/>
                  </a:ext>
                </a:extLst>
              </a:tr>
              <a:tr h="451556">
                <a:tc>
                  <a:txBody>
                    <a:bodyPr/>
                    <a:lstStyle/>
                    <a:p>
                      <a:r>
                        <a:rPr lang="en-US"/>
                        <a:t>Netherlands</a:t>
                      </a:r>
                    </a:p>
                  </a:txBody>
                  <a:tcPr/>
                </a:tc>
                <a:tc>
                  <a:txBody>
                    <a:bodyPr/>
                    <a:lstStyle/>
                    <a:p>
                      <a:r>
                        <a:rPr lang="en-US"/>
                        <a:t>1,200</a:t>
                      </a:r>
                    </a:p>
                  </a:txBody>
                  <a:tcPr/>
                </a:tc>
                <a:tc>
                  <a:txBody>
                    <a:bodyPr/>
                    <a:lstStyle/>
                    <a:p>
                      <a:r>
                        <a:rPr lang="en-US"/>
                        <a:t>KNGF Geleidehonden</a:t>
                      </a:r>
                    </a:p>
                  </a:txBody>
                  <a:tcPr/>
                </a:tc>
                <a:extLst>
                  <a:ext uri="{0D108BD9-81ED-4DB2-BD59-A6C34878D82A}">
                    <a16:rowId xmlns:a16="http://schemas.microsoft.com/office/drawing/2014/main" val="2299231331"/>
                  </a:ext>
                </a:extLst>
              </a:tr>
            </a:tbl>
          </a:graphicData>
        </a:graphic>
      </p:graphicFrame>
    </p:spTree>
    <p:extLst>
      <p:ext uri="{BB962C8B-B14F-4D97-AF65-F5344CB8AC3E}">
        <p14:creationId xmlns:p14="http://schemas.microsoft.com/office/powerpoint/2010/main" val="1659357164"/>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DA266-0651-6E68-AE0D-0F082CD43771}"/>
              </a:ext>
            </a:extLst>
          </p:cNvPr>
          <p:cNvSpPr>
            <a:spLocks noGrp="1"/>
          </p:cNvSpPr>
          <p:nvPr>
            <p:ph type="title"/>
          </p:nvPr>
        </p:nvSpPr>
        <p:spPr/>
        <p:txBody>
          <a:bodyPr/>
          <a:lstStyle/>
          <a:p>
            <a:r>
              <a:rPr lang="en-US"/>
              <a:t>Most Common Guide Dog Breeds</a:t>
            </a:r>
          </a:p>
        </p:txBody>
      </p:sp>
      <p:sp>
        <p:nvSpPr>
          <p:cNvPr id="3" name="Text Placeholder 2">
            <a:extLst>
              <a:ext uri="{FF2B5EF4-FFF2-40B4-BE49-F238E27FC236}">
                <a16:creationId xmlns:a16="http://schemas.microsoft.com/office/drawing/2014/main" id="{C7B3D0C6-F463-196F-8601-78CFE57A831E}"/>
              </a:ext>
            </a:extLst>
          </p:cNvPr>
          <p:cNvSpPr>
            <a:spLocks noGrp="1"/>
          </p:cNvSpPr>
          <p:nvPr>
            <p:ph type="body" idx="1"/>
          </p:nvPr>
        </p:nvSpPr>
        <p:spPr/>
        <p:txBody>
          <a:bodyPr>
            <a:normAutofit/>
          </a:bodyPr>
          <a:lstStyle/>
          <a:p>
            <a:r>
              <a:rPr lang="en-US" sz="1400">
                <a:latin typeface="Consolas" panose="020B0609020204030204" pitchFamily="49" charset="0"/>
              </a:rPr>
              <a:t>BREED DISTRIBUTION (Approximate %)
Labrador Retriever:  ████████████████████████████████████  70%
Golden Retriever:    ████████                              15%
German Shepherd:     █████                                 10%
Other Breeds:        ███                                    5%
Total Active Guide Dogs Worldwide: ~30,000 teams</a:t>
            </a:r>
          </a:p>
        </p:txBody>
      </p:sp>
    </p:spTree>
    <p:extLst>
      <p:ext uri="{BB962C8B-B14F-4D97-AF65-F5344CB8AC3E}">
        <p14:creationId xmlns:p14="http://schemas.microsoft.com/office/powerpoint/2010/main" val="72169116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9CE60-66B0-F8D2-8133-9047B36461D1}"/>
              </a:ext>
            </a:extLst>
          </p:cNvPr>
          <p:cNvSpPr>
            <a:spLocks noGrp="1"/>
          </p:cNvSpPr>
          <p:nvPr>
            <p:ph type="title"/>
          </p:nvPr>
        </p:nvSpPr>
        <p:spPr/>
        <p:txBody>
          <a:bodyPr/>
          <a:lstStyle/>
          <a:p>
            <a:r>
              <a:rPr lang="en-US"/>
              <a:t>The Guide Dog Training Process</a:t>
            </a:r>
          </a:p>
        </p:txBody>
      </p:sp>
      <p:sp>
        <p:nvSpPr>
          <p:cNvPr id="3" name="Text Placeholder 2">
            <a:extLst>
              <a:ext uri="{FF2B5EF4-FFF2-40B4-BE49-F238E27FC236}">
                <a16:creationId xmlns:a16="http://schemas.microsoft.com/office/drawing/2014/main" id="{E6651784-1AC7-046A-3EBD-F4B2FCC17339}"/>
              </a:ext>
            </a:extLst>
          </p:cNvPr>
          <p:cNvSpPr>
            <a:spLocks noGrp="1"/>
          </p:cNvSpPr>
          <p:nvPr>
            <p:ph type="body" idx="1"/>
          </p:nvPr>
        </p:nvSpPr>
        <p:spPr/>
        <p:txBody>
          <a:bodyPr/>
          <a:lstStyle/>
          <a:p>
            <a:r>
              <a:rPr lang="en-US"/>
              <a:t>Puppy Raising (0-18 months): Volunteer families socialize puppies
Formal Training (4-6 months): Professional trainers teach navigation skills
Matching: Dogs are paired with handlers based on lifestyle and walking speed
Team Training (2-4 weeks): Handler and dog learn to work together
Follow-up Support: Ongoing assistance from the guide dog school</a:t>
            </a:r>
          </a:p>
        </p:txBody>
      </p:sp>
    </p:spTree>
    <p:extLst>
      <p:ext uri="{BB962C8B-B14F-4D97-AF65-F5344CB8AC3E}">
        <p14:creationId xmlns:p14="http://schemas.microsoft.com/office/powerpoint/2010/main" val="2156414604"/>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15A56-5469-1ECE-4EB2-1223E0844077}"/>
              </a:ext>
            </a:extLst>
          </p:cNvPr>
          <p:cNvSpPr>
            <a:spLocks noGrp="1"/>
          </p:cNvSpPr>
          <p:nvPr>
            <p:ph type="title"/>
          </p:nvPr>
        </p:nvSpPr>
        <p:spPr/>
        <p:txBody>
          <a:bodyPr/>
          <a:lstStyle/>
          <a:p>
            <a:r>
              <a:rPr lang="en-US"/>
              <a:t>Benefits of Guide Dogs</a:t>
            </a:r>
          </a:p>
        </p:txBody>
      </p:sp>
      <p:sp>
        <p:nvSpPr>
          <p:cNvPr id="3" name="Text Placeholder 2">
            <a:extLst>
              <a:ext uri="{FF2B5EF4-FFF2-40B4-BE49-F238E27FC236}">
                <a16:creationId xmlns:a16="http://schemas.microsoft.com/office/drawing/2014/main" id="{A83C41D5-C067-8F2C-877D-DDDC95FB87BA}"/>
              </a:ext>
            </a:extLst>
          </p:cNvPr>
          <p:cNvSpPr>
            <a:spLocks noGrp="1"/>
          </p:cNvSpPr>
          <p:nvPr>
            <p:ph type="body" idx="1"/>
          </p:nvPr>
        </p:nvSpPr>
        <p:spPr/>
        <p:txBody>
          <a:bodyPr/>
          <a:lstStyle/>
          <a:p>
            <a:r>
              <a:rPr lang="en-US"/>
              <a:t>Increased mobility and independence
Enhanced safety when navigating obstacles and traffic
Improved confidence in unfamiliar environments
Companionship and emotional support
Greater participation in work, education, and social activities
Reduced reliance on sighted guides</a:t>
            </a:r>
          </a:p>
        </p:txBody>
      </p:sp>
    </p:spTree>
    <p:extLst>
      <p:ext uri="{BB962C8B-B14F-4D97-AF65-F5344CB8AC3E}">
        <p14:creationId xmlns:p14="http://schemas.microsoft.com/office/powerpoint/2010/main" val="4209332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89BB7-3F71-77E1-F985-190310158556}"/>
              </a:ext>
            </a:extLst>
          </p:cNvPr>
          <p:cNvSpPr>
            <a:spLocks noGrp="1"/>
          </p:cNvSpPr>
          <p:nvPr>
            <p:ph type="title"/>
          </p:nvPr>
        </p:nvSpPr>
        <p:spPr/>
        <p:txBody>
          <a:bodyPr/>
          <a:lstStyle/>
          <a:p>
            <a:r>
              <a:rPr lang="en-US"/>
              <a:t>Etiquette: Interacting with Guide Dog Teams</a:t>
            </a:r>
          </a:p>
        </p:txBody>
      </p:sp>
      <p:sp>
        <p:nvSpPr>
          <p:cNvPr id="3" name="Text Placeholder 2">
            <a:extLst>
              <a:ext uri="{FF2B5EF4-FFF2-40B4-BE49-F238E27FC236}">
                <a16:creationId xmlns:a16="http://schemas.microsoft.com/office/drawing/2014/main" id="{6856A216-5CDA-C3EC-1612-583FC0F1E3CA}"/>
              </a:ext>
            </a:extLst>
          </p:cNvPr>
          <p:cNvSpPr>
            <a:spLocks noGrp="1"/>
          </p:cNvSpPr>
          <p:nvPr>
            <p:ph type="body" idx="1"/>
          </p:nvPr>
        </p:nvSpPr>
        <p:spPr/>
        <p:txBody>
          <a:bodyPr/>
          <a:lstStyle/>
          <a:p>
            <a:r>
              <a:rPr lang="en-US"/>
              <a:t>DO NOT pet, feed, or distract a working guide dog
Always speak to the handler, not the dog
Ask before offering assistance
Give the team plenty of space to navigate
Never grab the harness or the handler's arm
It's okay to ask questions politely!</a:t>
            </a:r>
          </a:p>
        </p:txBody>
      </p:sp>
    </p:spTree>
    <p:extLst>
      <p:ext uri="{BB962C8B-B14F-4D97-AF65-F5344CB8AC3E}">
        <p14:creationId xmlns:p14="http://schemas.microsoft.com/office/powerpoint/2010/main" val="3025212004"/>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8DC10-6008-428C-11B0-11BD0726740D}"/>
              </a:ext>
            </a:extLst>
          </p:cNvPr>
          <p:cNvSpPr>
            <a:spLocks noGrp="1"/>
          </p:cNvSpPr>
          <p:nvPr>
            <p:ph type="title"/>
          </p:nvPr>
        </p:nvSpPr>
        <p:spPr/>
        <p:txBody>
          <a:bodyPr/>
          <a:lstStyle/>
          <a:p>
            <a:r>
              <a:rPr lang="en-US"/>
              <a:t>Guide Dog Organizations</a:t>
            </a:r>
          </a:p>
        </p:txBody>
      </p:sp>
      <p:sp>
        <p:nvSpPr>
          <p:cNvPr id="3" name="Text Placeholder 2">
            <a:extLst>
              <a:ext uri="{FF2B5EF4-FFF2-40B4-BE49-F238E27FC236}">
                <a16:creationId xmlns:a16="http://schemas.microsoft.com/office/drawing/2014/main" id="{46C91807-E3F4-B6DD-540A-C4BBBFAECBF2}"/>
              </a:ext>
            </a:extLst>
          </p:cNvPr>
          <p:cNvSpPr>
            <a:spLocks noGrp="1"/>
          </p:cNvSpPr>
          <p:nvPr>
            <p:ph type="body" idx="1"/>
          </p:nvPr>
        </p:nvSpPr>
        <p:spPr/>
        <p:txBody>
          <a:bodyPr/>
          <a:lstStyle/>
          <a:p>
            <a:r>
              <a:rPr lang="en-US"/>
              <a:t>Guide Dogs for the Blind (USA)
The Seeing Eye (USA) - First guide dog school in America
Guide Dogs UK
Seeing Eye Dogs Australia
Canadian Guide Dogs for the Blind
International Guide Dog Federation - 90+ member organizations worldwide</a:t>
            </a:r>
          </a:p>
        </p:txBody>
      </p:sp>
    </p:spTree>
    <p:extLst>
      <p:ext uri="{BB962C8B-B14F-4D97-AF65-F5344CB8AC3E}">
        <p14:creationId xmlns:p14="http://schemas.microsoft.com/office/powerpoint/2010/main" val="4078999270"/>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53D8-FDAB-3E45-6158-E48F94F035C2}"/>
              </a:ext>
            </a:extLst>
          </p:cNvPr>
          <p:cNvSpPr>
            <a:spLocks noGrp="1"/>
          </p:cNvSpPr>
          <p:nvPr>
            <p:ph type="ctrTitle"/>
          </p:nvPr>
        </p:nvSpPr>
        <p:spPr/>
        <p:txBody>
          <a:bodyPr/>
          <a:lstStyle/>
          <a:p>
            <a:r>
              <a:rPr lang="en-US"/>
              <a:t>Thank You!</a:t>
            </a:r>
          </a:p>
        </p:txBody>
      </p:sp>
      <p:sp>
        <p:nvSpPr>
          <p:cNvPr id="3" name="Subtitle 2">
            <a:extLst>
              <a:ext uri="{FF2B5EF4-FFF2-40B4-BE49-F238E27FC236}">
                <a16:creationId xmlns:a16="http://schemas.microsoft.com/office/drawing/2014/main" id="{3160C530-B676-27A8-6103-3A2AF91D3EC9}"/>
              </a:ext>
            </a:extLst>
          </p:cNvPr>
          <p:cNvSpPr>
            <a:spLocks noGrp="1"/>
          </p:cNvSpPr>
          <p:nvPr>
            <p:ph type="subTitle" idx="1"/>
          </p:nvPr>
        </p:nvSpPr>
        <p:spPr/>
        <p:txBody>
          <a:bodyPr/>
          <a:lstStyle/>
          <a:p>
            <a:r>
              <a:rPr lang="fr-FR"/>
              <a:t>Questions?
Contact: guidedogs@example.com</a:t>
            </a:r>
            <a:endParaRPr lang="en-US"/>
          </a:p>
        </p:txBody>
      </p:sp>
    </p:spTree>
    <p:extLst>
      <p:ext uri="{BB962C8B-B14F-4D97-AF65-F5344CB8AC3E}">
        <p14:creationId xmlns:p14="http://schemas.microsoft.com/office/powerpoint/2010/main" val="4197224732"/>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2467</TotalTime>
  <Words>519</Words>
  <Application>Microsoft Office PowerPoint</Application>
  <PresentationFormat>Widescreen</PresentationFormat>
  <Paragraphs>65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Guide Dogs: Partners in Independence</vt:lpstr>
      <vt:lpstr>What Are Guide Dogs?</vt:lpstr>
      <vt:lpstr>Guide Dog Usage by Country (2024)</vt:lpstr>
      <vt:lpstr>Most Common Guide Dog Breeds</vt:lpstr>
      <vt:lpstr>The Guide Dog Training Process</vt:lpstr>
      <vt:lpstr>Benefits of Guide Dogs</vt:lpstr>
      <vt:lpstr>Etiquette: Interacting with Guide Dog Teams</vt:lpstr>
      <vt:lpstr>Guide Dog Organizations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Brett Humphrey</dc:creator>
  <cp:lastModifiedBy>Brett Humphrey</cp:lastModifiedBy>
  <cp:revision>2</cp:revision>
  <dcterms:created xsi:type="dcterms:W3CDTF">2025-12-04T22:37:02Z</dcterms:created>
  <dcterms:modified xsi:type="dcterms:W3CDTF">2026-01-11T22:16:49Z</dcterms:modified>
</cp:coreProperties>
</file>